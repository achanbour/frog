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95" r:id="rId5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0692"/>
  </p:normalViewPr>
  <p:slideViewPr>
    <p:cSldViewPr snapToGrid="0" showGuides="1">
      <p:cViewPr varScale="1">
        <p:scale>
          <a:sx n="96" d="100"/>
          <a:sy n="96" d="100"/>
        </p:scale>
        <p:origin x="137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Firedrake is not just a PDE solver, but a general computational framework built around FEM. Another example to mention is the one I’m currently working on which is to enable </a:t>
            </a:r>
            <a:r>
              <a:rPr lang="en-US" dirty="0" err="1"/>
              <a:t>Lagrangian</a:t>
            </a:r>
            <a:r>
              <a:rPr lang="en-US" dirty="0"/>
              <a:t> particle tracing.</a:t>
            </a:r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Parallel execution currently targets CPUs, using MPI for distributed meshes and optimized kernel execution on multi-core processors.</a:t>
            </a:r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</a:t>
            </a:r>
            <a:r>
              <a:rPr lang="en-GB" dirty="0"/>
              <a:t>Evaluate the feasibility of compiling modified MLIR kernels for AMD hardware</a:t>
            </a:r>
            <a:r>
              <a:rPr lang="en-US" dirty="0"/>
              <a:t> </a:t>
            </a:r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</a:t>
            </a:r>
            <a:r>
              <a:rPr lang="en-GB" dirty="0"/>
              <a:t>Starting from an MLIR script generated for a representative one-form assembly, explore rewriting the IR using AMD GPU–related dialects to target GPU execution.</a:t>
            </a:r>
          </a:p>
          <a:p>
            <a:pPr marL="171450" marR="0" lvl="0" indent="-17145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Investigate strategies for efficient transfer and synchronization of mesh, field, and assembly data between host and device.</a:t>
            </a:r>
          </a:p>
          <a:p>
            <a:pPr lvl="1"/>
            <a:r>
              <a:rPr lang="en-GB" dirty="0"/>
              <a:t>Identify which Firedrake data structures (mesh, fields, assembly outputs) must reside on the GPU</a:t>
            </a:r>
          </a:p>
          <a:p>
            <a:pPr lvl="1"/>
            <a:r>
              <a:rPr lang="en-GB" dirty="0"/>
              <a:t>Minimise host–device transfers during kernel execution</a:t>
            </a:r>
          </a:p>
          <a:p>
            <a:pPr lvl="1"/>
            <a:r>
              <a:rPr lang="en-GB" dirty="0"/>
              <a:t>Explore persistent device data layouts for repeated assembly operations</a:t>
            </a:r>
          </a:p>
          <a:p>
            <a:pPr marL="628627" marR="0" lvl="1" indent="-17145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dirty="0"/>
          </a:p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</a:t>
            </a:r>
            <a:r>
              <a:rPr lang="en-GB" dirty="0"/>
              <a:t>Assess approaches such as MLIR Python bindings or </a:t>
            </a:r>
            <a:r>
              <a:rPr lang="en-GB" dirty="0" err="1"/>
              <a:t>xDSL</a:t>
            </a:r>
            <a:r>
              <a:rPr lang="en-GB" dirty="0"/>
              <a:t> as potential infrastructure for long-term GPU support within Firedrake’s Python-based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1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3996D-125E-4908-B6F0-50835E42F7CC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E5E2-074F-4C32-9E7C-7D1CD6D9C46F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A389-F2F3-48BD-8637-714D04FBE282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20F845-3051-4964-8810-4D6B9CEE5602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7850-4A32-48D9-B65E-F551EAA4CC04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5E19-1301-44C0-8F27-8B4339EFA248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122-4495-44BA-A4C1-8BE76937A80D}" type="datetime1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DC06-C956-40EB-B7C2-5D24D2134868}" type="datetime1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2CD8-4874-4E1A-99A5-6A33EAEAD984}" type="datetime1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3BCF-757C-48E4-AB43-882F0A78532C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83EC-1E11-45E0-886A-851228B0A8DF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D4AE-58D3-41BB-8060-5ADF87B91618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5DBF-6AEB-4550-BEA6-FE6CE3862FB9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2C9E-B7BA-48F8-8C95-4A603CB4A0B6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E69-4493-469E-9F6F-0F2C42DABB23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7A56-2FF9-491E-814D-0A900175F8E1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82C8-03A6-4D1C-870A-BE728679E492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533C-450F-4C7A-8669-D1C1D442E9DA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B67106-7FE2-4B8D-9827-B242124A96D0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A93-6E2C-479B-B487-61050B029E0E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BB15-756E-4C9B-BAD5-65B8245F1711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64A-9D95-4BFD-9EE2-ED03761B5D93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16F8D3-3840-4002-A902-CA5665F1877D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6E35-447D-4F3F-B312-D5A5B297F989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53B4-E62F-43A9-95E1-1281FC369A0C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C65B-45F4-494F-85C9-F650D9479B4E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B683-185E-47F3-8B62-B7D69EB8BD5B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529D-9412-41C5-A6C2-C931A11B8D57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683B-1327-4EC5-BC3D-F1BC9929DF1D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0F3C-9559-4D72-9EA0-55DADACB2573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B1C3-5A45-497F-BCC7-EC2CAE0BF41E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9E16-EEE1-449A-9FC3-EC3A45AD75A9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5C08-4378-4C2A-80FC-85BE4CC22ED2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9A96-AD1A-4D71-9FB8-4FC24821C6DB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4DA1-1F50-4046-AB99-973BFEA76F20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D7C-325E-46DC-8928-255FD373C96D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0609-BB11-4BF4-8697-59822653EB4F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F2A2-6868-407F-8098-72A30A0A7D4F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DDFD2-A19B-4FDD-86ED-B185BF53816E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18C7-E49D-46B4-A26D-8654FF918181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4B4E-1431-4713-BED5-A43C1F5596C4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038C-7537-45C4-BC31-19A4CC76608A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E25-142E-4760-8666-599A78D60753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C0C-5320-426A-9514-B5BB83F873AE}" type="datetime1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63C1-8B3D-4242-8BBB-2FEB2725DAC9}" type="datetime1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0E4-EC35-42CE-9A21-653C43AB9D97}" type="datetime1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F983-3AD9-45E2-9CD5-5871D2EB91F5}" type="datetime1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644011B4-2383-4A6D-84D7-C0A7DC378FD8}" type="datetime1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8214-58A2-92C2-E8E2-8A76B2D3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C768-9CE1-C5E8-37F5-CD5024B6B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740" y="1005280"/>
            <a:ext cx="6459869" cy="986521"/>
          </a:xfrm>
        </p:spPr>
        <p:txBody>
          <a:bodyPr/>
          <a:lstStyle/>
          <a:p>
            <a:r>
              <a:rPr lang="en-GB" sz="3500" dirty="0"/>
              <a:t>Firedrake Routines on GPU (</a:t>
            </a:r>
            <a:r>
              <a:rPr lang="en-GB" sz="3500" dirty="0" err="1"/>
              <a:t>FRoG</a:t>
            </a:r>
            <a:r>
              <a:rPr lang="en-GB" sz="3500" dirty="0"/>
              <a:t>)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8E5B20-993C-CEAC-798C-F5D05568F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77546" y="6099553"/>
            <a:ext cx="2814454" cy="601190"/>
          </a:xfrm>
        </p:spPr>
        <p:txBody>
          <a:bodyPr/>
          <a:lstStyle/>
          <a:p>
            <a:r>
              <a:rPr lang="en-US" dirty="0"/>
              <a:t>Anastasia Chanbour</a:t>
            </a:r>
          </a:p>
          <a:p>
            <a:r>
              <a:rPr lang="en-US" dirty="0"/>
              <a:t>Divij Ghose</a:t>
            </a:r>
          </a:p>
        </p:txBody>
      </p:sp>
      <p:pic>
        <p:nvPicPr>
          <p:cNvPr id="8" name="Graphic 7" descr="Frog outline">
            <a:extLst>
              <a:ext uri="{FF2B5EF4-FFF2-40B4-BE49-F238E27FC236}">
                <a16:creationId xmlns:a16="http://schemas.microsoft.com/office/drawing/2014/main" id="{03482239-A1F9-1577-9DB6-BE09E0877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2073" y="1356213"/>
            <a:ext cx="672495" cy="672495"/>
          </a:xfrm>
          <a:prstGeom prst="rect">
            <a:avLst/>
          </a:prstGeom>
        </p:spPr>
      </p:pic>
      <p:pic>
        <p:nvPicPr>
          <p:cNvPr id="10" name="Picture 9" descr="Blue and green text on a white background&#10;&#10;AI-generated content may be incorrect.">
            <a:extLst>
              <a:ext uri="{FF2B5EF4-FFF2-40B4-BE49-F238E27FC236}">
                <a16:creationId xmlns:a16="http://schemas.microsoft.com/office/drawing/2014/main" id="{17D5B90F-B264-85B0-53EF-FEBBA9E4B5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475" y="199158"/>
            <a:ext cx="1944226" cy="643090"/>
          </a:xfrm>
          <a:prstGeom prst="rect">
            <a:avLst/>
          </a:prstGeom>
        </p:spPr>
      </p:pic>
      <p:pic>
        <p:nvPicPr>
          <p:cNvPr id="12" name="Picture 1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253D916E-BF37-7591-3786-B1FBE5AE9C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271" y="315830"/>
            <a:ext cx="2431551" cy="409745"/>
          </a:xfrm>
          <a:prstGeom prst="rect">
            <a:avLst/>
          </a:prstGeom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0DC282C1-05B8-1283-8A40-53C307E98E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475" y="993354"/>
            <a:ext cx="2184705" cy="64309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97CC276-3956-64D0-325E-1B5ED368264A}"/>
              </a:ext>
            </a:extLst>
          </p:cNvPr>
          <p:cNvSpPr txBox="1">
            <a:spLocks/>
          </p:cNvSpPr>
          <p:nvPr/>
        </p:nvSpPr>
        <p:spPr>
          <a:xfrm>
            <a:off x="298740" y="2185580"/>
            <a:ext cx="11413532" cy="42145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kern="1200">
                <a:solidFill>
                  <a:schemeClr val="accent1"/>
                </a:solidFill>
                <a:latin typeface="+mn-lt"/>
                <a:ea typeface="Inter Medium" panose="02000503000000020004" pitchFamily="2" charset="0"/>
                <a:cs typeface="+mn-cs"/>
              </a:defRPr>
            </a:lvl1pPr>
            <a:lvl2pPr marL="342882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765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7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0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2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5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77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0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accent3"/>
                </a:solidFill>
              </a:rPr>
              <a:t>What is Firedrake?</a:t>
            </a:r>
            <a:endParaRPr lang="en-GB" sz="2000" b="1" dirty="0">
              <a:solidFill>
                <a:schemeClr val="tx1"/>
              </a:solidFill>
            </a:endParaRPr>
          </a:p>
          <a:p>
            <a:pPr marL="161991" marR="0" lvl="2" indent="-161991" algn="l" defTabSz="685765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Differentiable code generation framework</a:t>
            </a:r>
          </a:p>
          <a:p>
            <a:pPr marL="504873" lvl="3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r>
              <a:rPr lang="en-GB" sz="1700" dirty="0">
                <a:solidFill>
                  <a:prstClr val="black"/>
                </a:solidFill>
                <a:latin typeface="Arial"/>
              </a:rPr>
              <a:t>Used for the numerical solution of PDEs by the Finite Element Method</a:t>
            </a:r>
          </a:p>
          <a:p>
            <a:pPr marL="504873" lvl="3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Supports a broad range of scientific workflows (e.g., optimisation and inverse problems, multi-physics system)</a:t>
            </a:r>
          </a:p>
          <a:p>
            <a:pPr marL="161991" marR="0" lvl="2" indent="-161991" algn="l" defTabSz="685765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Relies on JIT compilation to generate high-performance low-level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</a:t>
            </a:r>
            <a:r>
              <a:rPr lang="en-GB" sz="2000" dirty="0" err="1">
                <a:solidFill>
                  <a:prstClr val="black"/>
                </a:solidFill>
                <a:latin typeface="Arial"/>
              </a:rPr>
              <a:t>plementations</a:t>
            </a:r>
            <a:r>
              <a:rPr lang="en-GB" sz="2000" dirty="0">
                <a:solidFill>
                  <a:prstClr val="black"/>
                </a:solidFill>
                <a:latin typeface="Arial"/>
              </a:rPr>
              <a:t> (essentially C code) of high-level mathematical operations (specified in Python).</a:t>
            </a:r>
            <a:endParaRPr lang="en-GB" sz="1850" dirty="0">
              <a:solidFill>
                <a:prstClr val="black"/>
              </a:solidFill>
              <a:latin typeface="Arial"/>
            </a:endParaRPr>
          </a:p>
          <a:p>
            <a:pPr marL="161991" marR="0" lvl="2" indent="-161991" algn="l" defTabSz="685765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Arial"/>
              </a:rPr>
              <a:t>Supports CPU parallelism (MPI-based distributed memory model)</a:t>
            </a:r>
          </a:p>
          <a:p>
            <a:pPr marL="161991" marR="0" lvl="2" indent="-161991" algn="l" defTabSz="685765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000" b="1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accent3"/>
                </a:solidFill>
              </a:rPr>
              <a:t>What do we want to achieve?</a:t>
            </a:r>
            <a:endParaRPr lang="en-GB" sz="2000" b="1" dirty="0">
              <a:solidFill>
                <a:schemeClr val="tx1"/>
              </a:solidFill>
            </a:endParaRPr>
          </a:p>
          <a:p>
            <a:pPr marL="161991" lvl="2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compilation of Firedrake-generated kernels for GPU devices</a:t>
            </a:r>
          </a:p>
          <a:p>
            <a:pPr marL="504873" lvl="3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r>
              <a:rPr lang="en-GB" sz="17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 with MLIR-based kernel lowering for AMD GPUs</a:t>
            </a:r>
            <a:endParaRPr lang="en-GB" sz="17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5975" lvl="4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r>
              <a:rPr lang="en-GB" sz="17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efficient data placement strategies</a:t>
            </a:r>
          </a:p>
          <a:p>
            <a:pPr marL="485975" lvl="4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r>
              <a:rPr lang="en-GB" sz="1700" dirty="0">
                <a:solidFill>
                  <a:prstClr val="black"/>
                </a:solidFill>
              </a:rPr>
              <a:t>Explore alternative strategies for GPU code generation (MLIR Python bindings, </a:t>
            </a:r>
            <a:r>
              <a:rPr lang="en-GB" sz="1700" dirty="0" err="1">
                <a:solidFill>
                  <a:prstClr val="black"/>
                </a:solidFill>
              </a:rPr>
              <a:t>xDSL</a:t>
            </a:r>
            <a:r>
              <a:rPr lang="en-GB" sz="1700" dirty="0">
                <a:solidFill>
                  <a:prstClr val="black"/>
                </a:solidFill>
              </a:rPr>
              <a:t> etc.)</a:t>
            </a:r>
          </a:p>
          <a:p>
            <a:pPr marL="485975" lvl="4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endParaRPr lang="en-GB" sz="1700" dirty="0">
              <a:solidFill>
                <a:prstClr val="black"/>
              </a:solidFill>
            </a:endParaRPr>
          </a:p>
          <a:p>
            <a:pPr marL="485975" lvl="4" indent="-161991" algn="l">
              <a:buClr>
                <a:srgbClr val="0000CD"/>
              </a:buClr>
              <a:buFont typeface="Arial" panose="020B0604020202020204" pitchFamily="34" charset="0"/>
              <a:buChar char="•"/>
              <a:defRPr/>
            </a:pPr>
            <a:endParaRPr lang="en-GB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1510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mperial_PowerPoint_16_9_simplified template_with_instrucs" id="{E2003566-CB3B-AF4B-AC63-3C69992DFC2C}" vid="{F435D263-C53D-E44B-AFB4-0237A8A90C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9AEDE06C8B0342A6C4D20B29F8488E" ma:contentTypeVersion="16" ma:contentTypeDescription="Create a new document." ma:contentTypeScope="" ma:versionID="a4578b94c4c0df5c4f162bb3027c7c05">
  <xsd:schema xmlns:xsd="http://www.w3.org/2001/XMLSchema" xmlns:xs="http://www.w3.org/2001/XMLSchema" xmlns:p="http://schemas.microsoft.com/office/2006/metadata/properties" xmlns:ns2="6d1e2927-7a8e-4755-b112-de5aaecc1c06" xmlns:ns3="df1ede62-d5df-40e3-a8ec-fa53b1631612" xmlns:ns4="d0201ca7-26fa-426c-b12d-c4c6e5857dcc" targetNamespace="http://schemas.microsoft.com/office/2006/metadata/properties" ma:root="true" ma:fieldsID="8c51cfd87b0abe227219b0f2986567bc" ns2:_="" ns3:_="" ns4:_="">
    <xsd:import namespace="6d1e2927-7a8e-4755-b112-de5aaecc1c06"/>
    <xsd:import namespace="df1ede62-d5df-40e3-a8ec-fa53b1631612"/>
    <xsd:import namespace="d0201ca7-26fa-426c-b12d-c4c6e5857d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2927-7a8e-4755-b112-de5aaecc1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ede62-d5df-40e3-a8ec-fa53b16316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201ca7-26fa-426c-b12d-c4c6e5857dc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698054-6ef3-4a0a-8632-c02544f20d65}" ma:internalName="TaxCatchAll" ma:showField="CatchAllData" ma:web="d0201ca7-26fa-426c-b12d-c4c6e5857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1e2927-7a8e-4755-b112-de5aaecc1c06">
      <Terms xmlns="http://schemas.microsoft.com/office/infopath/2007/PartnerControls"/>
    </lcf76f155ced4ddcb4097134ff3c332f>
    <TaxCatchAll xmlns="d0201ca7-26fa-426c-b12d-c4c6e5857dcc" xsi:nil="true"/>
  </documentManagement>
</p:properties>
</file>

<file path=customXml/itemProps1.xml><?xml version="1.0" encoding="utf-8"?>
<ds:datastoreItem xmlns:ds="http://schemas.openxmlformats.org/officeDocument/2006/customXml" ds:itemID="{D6D8D580-1CFD-4A82-B403-D3A047B3EE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1e2927-7a8e-4755-b112-de5aaecc1c06"/>
    <ds:schemaRef ds:uri="df1ede62-d5df-40e3-a8ec-fa53b1631612"/>
    <ds:schemaRef ds:uri="d0201ca7-26fa-426c-b12d-c4c6e5857d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CC2720-3352-404F-8526-0437378EE5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7BB4C6-127E-40DB-83D0-BAD626190316}">
  <ds:schemaRefs>
    <ds:schemaRef ds:uri="http://schemas.microsoft.com/office/2006/documentManagement/types"/>
    <ds:schemaRef ds:uri="http://schemas.openxmlformats.org/package/2006/metadata/core-properties"/>
    <ds:schemaRef ds:uri="d0201ca7-26fa-426c-b12d-c4c6e5857dcc"/>
    <ds:schemaRef ds:uri="http://purl.org/dc/dcmitype/"/>
    <ds:schemaRef ds:uri="df1ede62-d5df-40e3-a8ec-fa53b1631612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6d1e2927-7a8e-4755-b112-de5aaecc1c0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75</TotalTime>
  <Words>301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Inter Medium</vt:lpstr>
      <vt:lpstr>ICL PPT Theme</vt:lpstr>
      <vt:lpstr>Firedrake Routines on GPU (FRoG)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Ghose, Divij T</dc:creator>
  <cp:lastModifiedBy>Chanbour, Anastasia</cp:lastModifiedBy>
  <cp:revision>3</cp:revision>
  <dcterms:created xsi:type="dcterms:W3CDTF">2026-03-06T16:05:44Z</dcterms:created>
  <dcterms:modified xsi:type="dcterms:W3CDTF">2026-03-10T10:59:58Z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0x010100D99AEDE06C8B0342A6C4D20B29F8488E</vt:lpwstr>
  </property>
</Properties>
</file>